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7" r:id="rId11"/>
    <p:sldId id="268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545"/>
    <p:restoredTop sz="94674"/>
  </p:normalViewPr>
  <p:slideViewPr>
    <p:cSldViewPr snapToGrid="0" snapToObjects="1">
      <p:cViewPr varScale="1">
        <p:scale>
          <a:sx n="71" d="100"/>
          <a:sy n="71" d="100"/>
        </p:scale>
        <p:origin x="176" y="8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AB53D2-95E3-2742-AF52-F4559008FA85}" type="datetimeFigureOut">
              <a:rPr lang="de-DE" smtClean="0"/>
              <a:t>09.01.26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016F29-E9A2-2C41-A466-A0DA3C2C3F83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0244273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Diese Folie ist bewusst kurz. 1–2 Minuten mündlich: größtes Problem + was nächstes Mal anders.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1/9/26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9800" y="1958975"/>
            <a:ext cx="7772400" cy="1470025"/>
          </a:xfrm>
        </p:spPr>
        <p:txBody>
          <a:bodyPr/>
          <a:lstStyle/>
          <a:p>
            <a:r>
              <a:rPr sz="3800" b="1" dirty="0">
                <a:latin typeface="Calibri"/>
              </a:rPr>
              <a:t>Crypto Sentiment Analytics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4124195"/>
            <a:ext cx="6400800" cy="1752600"/>
          </a:xfrm>
        </p:spPr>
        <p:txBody>
          <a:bodyPr/>
          <a:lstStyle/>
          <a:p>
            <a:r>
              <a:rPr sz="1800" b="0" dirty="0">
                <a:solidFill>
                  <a:srgbClr val="464646"/>
                </a:solidFill>
                <a:latin typeface="Calibri"/>
              </a:rPr>
              <a:t>Big Data Analytics – </a:t>
            </a:r>
            <a:r>
              <a:rPr sz="1800" b="0" dirty="0" err="1">
                <a:solidFill>
                  <a:srgbClr val="464646"/>
                </a:solidFill>
                <a:latin typeface="Calibri"/>
              </a:rPr>
              <a:t>Abschlussprojekt</a:t>
            </a:r>
            <a:endParaRPr sz="1800" b="0" dirty="0">
              <a:solidFill>
                <a:srgbClr val="464646"/>
              </a:solidFill>
              <a:latin typeface="Calibri"/>
            </a:endParaRPr>
          </a:p>
          <a:p>
            <a:r>
              <a:rPr sz="1800" b="0" dirty="0">
                <a:solidFill>
                  <a:srgbClr val="464646"/>
                </a:solidFill>
                <a:latin typeface="Calibri"/>
              </a:rPr>
              <a:t>Emre Akyol · Harmanpreet Chauhan · Mohamed Nasr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337268"/>
            <a:ext cx="10838329" cy="1143000"/>
          </a:xfrm>
        </p:spPr>
        <p:txBody>
          <a:bodyPr/>
          <a:lstStyle/>
          <a:p>
            <a:r>
              <a:rPr sz="3600" b="1" dirty="0">
                <a:latin typeface="Calibri"/>
              </a:rPr>
              <a:t>Ziel &amp; </a:t>
            </a:r>
            <a:r>
              <a:rPr sz="3600" b="1" dirty="0" err="1">
                <a:latin typeface="Calibri"/>
              </a:rPr>
              <a:t>Fragestellung</a:t>
            </a:r>
            <a:endParaRPr sz="3600" b="1" dirty="0">
              <a:latin typeface="Calibri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10838328" cy="45259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sz="2200" b="0" dirty="0">
                <a:latin typeface="Calibri"/>
              </a:rPr>
              <a:t>Wie stark </a:t>
            </a:r>
            <a:r>
              <a:rPr sz="2200" b="0" dirty="0" err="1">
                <a:latin typeface="Calibri"/>
              </a:rPr>
              <a:t>hängen</a:t>
            </a:r>
            <a:r>
              <a:rPr sz="2200" b="0" dirty="0">
                <a:latin typeface="Calibri"/>
              </a:rPr>
              <a:t> Social/News-Sentiment und Krypto-</a:t>
            </a:r>
            <a:r>
              <a:rPr sz="2200" b="0" dirty="0" err="1">
                <a:latin typeface="Calibri"/>
              </a:rPr>
              <a:t>Volatilität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zusammen</a:t>
            </a:r>
            <a:r>
              <a:rPr sz="2200" b="0" dirty="0">
                <a:latin typeface="Calibri"/>
              </a:rPr>
              <a:t>?</a:t>
            </a:r>
            <a:endParaRPr lang="de-AT" sz="2200" b="0" dirty="0">
              <a:latin typeface="Calibri"/>
            </a:endParaRPr>
          </a:p>
          <a:p>
            <a:pPr>
              <a:spcAft>
                <a:spcPts val="600"/>
              </a:spcAft>
            </a:pPr>
            <a:endParaRPr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200" b="0" dirty="0">
                <a:latin typeface="Calibri"/>
              </a:rPr>
              <a:t>Wir </a:t>
            </a:r>
            <a:r>
              <a:rPr sz="2200" b="0" dirty="0" err="1">
                <a:latin typeface="Calibri"/>
              </a:rPr>
              <a:t>sammeln</a:t>
            </a:r>
            <a:r>
              <a:rPr sz="2200" b="0" dirty="0">
                <a:latin typeface="Calibri"/>
              </a:rPr>
              <a:t> Live-Daten </a:t>
            </a:r>
            <a:r>
              <a:rPr sz="2200" b="0" dirty="0" err="1">
                <a:latin typeface="Calibri"/>
              </a:rPr>
              <a:t>aus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mehreren</a:t>
            </a:r>
            <a:r>
              <a:rPr sz="2200" b="0" dirty="0">
                <a:latin typeface="Calibri"/>
              </a:rPr>
              <a:t> APIs, </a:t>
            </a:r>
            <a:r>
              <a:rPr sz="2200" b="0" dirty="0" err="1">
                <a:latin typeface="Calibri"/>
              </a:rPr>
              <a:t>verarbeiten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sie</a:t>
            </a:r>
            <a:r>
              <a:rPr sz="2200" b="0" dirty="0">
                <a:latin typeface="Calibri"/>
              </a:rPr>
              <a:t> (MongoDB/Spark) und </a:t>
            </a:r>
            <a:r>
              <a:rPr sz="2200" b="0" dirty="0" err="1">
                <a:latin typeface="Calibri"/>
              </a:rPr>
              <a:t>visualisieren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sie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im</a:t>
            </a:r>
            <a:r>
              <a:rPr sz="2200" b="0" dirty="0">
                <a:latin typeface="Calibri"/>
              </a:rPr>
              <a:t> Dashboard.</a:t>
            </a:r>
            <a:endParaRPr lang="de-AT" sz="2200" b="0" dirty="0">
              <a:latin typeface="Calibri"/>
            </a:endParaRPr>
          </a:p>
          <a:p>
            <a:pPr>
              <a:spcAft>
                <a:spcPts val="600"/>
              </a:spcAft>
            </a:pPr>
            <a:endParaRPr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200" b="0" dirty="0" err="1">
                <a:latin typeface="Calibri"/>
              </a:rPr>
              <a:t>Ergebnis</a:t>
            </a:r>
            <a:r>
              <a:rPr sz="2200" b="0" dirty="0">
                <a:latin typeface="Calibri"/>
              </a:rPr>
              <a:t>: </a:t>
            </a:r>
            <a:r>
              <a:rPr sz="2200" b="0" dirty="0" err="1">
                <a:latin typeface="Calibri"/>
              </a:rPr>
              <a:t>ein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interaktives</a:t>
            </a:r>
            <a:r>
              <a:rPr sz="2200" b="0" dirty="0">
                <a:latin typeface="Calibri"/>
              </a:rPr>
              <a:t> Dashboard </a:t>
            </a:r>
            <a:r>
              <a:rPr sz="2200" b="0" dirty="0" err="1">
                <a:latin typeface="Calibri"/>
              </a:rPr>
              <a:t>mit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Korrelationen</a:t>
            </a:r>
            <a:r>
              <a:rPr sz="2200" b="0" dirty="0">
                <a:latin typeface="Calibri"/>
              </a:rPr>
              <a:t> und ML-Predictions.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125200" cy="1143000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Begriffe</a:t>
            </a:r>
            <a:r>
              <a:rPr sz="3600" b="1" dirty="0">
                <a:latin typeface="Calibri"/>
              </a:rPr>
              <a:t> – </a:t>
            </a:r>
            <a:r>
              <a:rPr sz="3600" b="1" dirty="0" err="1">
                <a:latin typeface="Calibri"/>
              </a:rPr>
              <a:t>kurz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erklärt</a:t>
            </a:r>
            <a:endParaRPr sz="3600" b="1" dirty="0">
              <a:latin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11767499"/>
              </p:ext>
            </p:extLst>
          </p:nvPr>
        </p:nvGraphicFramePr>
        <p:xfrm>
          <a:off x="609600" y="1365064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46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28320"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Begriff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latin typeface="Calibri"/>
                        </a:rPr>
                        <a:t>Bedeutung (kurz)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Market Cap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Wert aller Coins: Preis × Umlaufmenge (grobe Marktgröße)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24h Volume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Handelsvolumen der letzten 24 Stunden (Aktivität/Liquidität)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24h Change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Preisänderung in % über 24 Stunden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Volatilität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Schwankungsstärke (z.B. Std.-Abw. / relative Schwankung)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BTC Dominance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Marktanteil von Bitcoin an der gesamten Market Cap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Fear &amp; Greed Index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Stimmungsindex 0–100: Fear → Greed (Marktpsychologie)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Sentiment 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Skala z.B. -1 bis +1: negativ → positiv (News/Votes)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283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Korrelation (r)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 err="1">
                          <a:latin typeface="Calibri"/>
                        </a:rPr>
                        <a:t>Maß</a:t>
                      </a:r>
                      <a:r>
                        <a:rPr sz="1600" b="0" dirty="0">
                          <a:latin typeface="Calibri"/>
                        </a:rPr>
                        <a:t> für </a:t>
                      </a:r>
                      <a:r>
                        <a:rPr sz="1600" b="0" dirty="0" err="1">
                          <a:latin typeface="Calibri"/>
                        </a:rPr>
                        <a:t>Zusammenhang</a:t>
                      </a:r>
                      <a:r>
                        <a:rPr sz="1600" b="0" dirty="0">
                          <a:latin typeface="Calibri"/>
                        </a:rPr>
                        <a:t>: -1 … +1 (</a:t>
                      </a:r>
                      <a:r>
                        <a:rPr sz="1600" b="0" dirty="0" err="1">
                          <a:latin typeface="Calibri"/>
                        </a:rPr>
                        <a:t>nicht</a:t>
                      </a:r>
                      <a:r>
                        <a:rPr sz="1600" b="0" dirty="0"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latin typeface="Calibri"/>
                        </a:rPr>
                        <a:t>gleich</a:t>
                      </a:r>
                      <a:r>
                        <a:rPr sz="1600" b="0" dirty="0">
                          <a:latin typeface="Calibri"/>
                        </a:rPr>
                        <a:t> </a:t>
                      </a:r>
                      <a:r>
                        <a:rPr sz="1600" b="0" dirty="0" err="1">
                          <a:latin typeface="Calibri"/>
                        </a:rPr>
                        <a:t>Kausalität</a:t>
                      </a:r>
                      <a:r>
                        <a:rPr sz="1600" b="0" dirty="0">
                          <a:latin typeface="Calibri"/>
                        </a:rPr>
                        <a:t>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247120" cy="1143000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Datenquellen</a:t>
            </a:r>
            <a:endParaRPr sz="3600" b="1" dirty="0">
              <a:latin typeface="Calibri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5917267"/>
              </p:ext>
            </p:extLst>
          </p:nvPr>
        </p:nvGraphicFramePr>
        <p:xfrm>
          <a:off x="731520" y="1463040"/>
          <a:ext cx="10972800" cy="4754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188720"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chemeClr val="tx1"/>
                          </a:solidFill>
                          <a:latin typeface="Calibri"/>
                        </a:rPr>
                        <a:t>Quelle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>
                          <a:solidFill>
                            <a:schemeClr val="tx1"/>
                          </a:solidFill>
                          <a:latin typeface="Calibri"/>
                        </a:rPr>
                        <a:t>Was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Calibri"/>
                        </a:rPr>
                        <a:t>wir</a:t>
                      </a:r>
                      <a:r>
                        <a:rPr sz="1600" b="1" dirty="0">
                          <a:solidFill>
                            <a:schemeClr val="tx1"/>
                          </a:solidFill>
                          <a:latin typeface="Calibri"/>
                        </a:rPr>
                        <a:t> </a:t>
                      </a:r>
                      <a:r>
                        <a:rPr sz="1600" b="1" dirty="0" err="1">
                          <a:solidFill>
                            <a:schemeClr val="tx1"/>
                          </a:solidFill>
                          <a:latin typeface="Calibri"/>
                        </a:rPr>
                        <a:t>holen</a:t>
                      </a:r>
                      <a:endParaRPr sz="16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 dirty="0" err="1">
                          <a:solidFill>
                            <a:schemeClr val="tx1"/>
                          </a:solidFill>
                          <a:latin typeface="Calibri"/>
                        </a:rPr>
                        <a:t>Wofür</a:t>
                      </a:r>
                      <a:endParaRPr sz="1600" b="1" dirty="0">
                        <a:solidFill>
                          <a:schemeClr val="tx1"/>
                        </a:solidFill>
                        <a:latin typeface="Calibri"/>
                      </a:endParaRPr>
                    </a:p>
                  </a:txBody>
                  <a:tcPr>
                    <a:solidFill>
                      <a:srgbClr val="F0F0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CoinGecko API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Preis, Market Cap, Volume, 7d-Sparkline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Markt- und Volatilitätsmetriken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Alternative.me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alibri"/>
                        </a:rPr>
                        <a:t>Fear &amp; Greed Index (0–100)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Marktstimmung (Makroindikator)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188720"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CryptoPanic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>
                          <a:latin typeface="Calibri"/>
                        </a:rPr>
                        <a:t>News-Headlines + Votes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600" b="0" dirty="0">
                          <a:latin typeface="Calibri"/>
                        </a:rPr>
                        <a:t>News-</a:t>
                      </a:r>
                      <a:r>
                        <a:rPr sz="1600" b="0" dirty="0" err="1">
                          <a:latin typeface="Calibri"/>
                        </a:rPr>
                        <a:t>basierter</a:t>
                      </a:r>
                      <a:r>
                        <a:rPr sz="1600" b="0" dirty="0">
                          <a:latin typeface="Calibri"/>
                        </a:rPr>
                        <a:t> Sentiment Score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338560" cy="1143000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Ergebnisse</a:t>
            </a:r>
            <a:r>
              <a:rPr sz="3600" b="1" dirty="0">
                <a:latin typeface="Calibri"/>
              </a:rPr>
              <a:t>: Dashboard-Überblick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960" y="1554480"/>
            <a:ext cx="10972800" cy="4937760"/>
          </a:xfrm>
          <a:prstGeom prst="rect">
            <a:avLst/>
          </a:prstGeom>
          <a:solidFill>
            <a:srgbClr val="FAFA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dirty="0"/>
          </a:p>
        </p:txBody>
      </p:sp>
      <p:pic>
        <p:nvPicPr>
          <p:cNvPr id="4" name="Grafik 3">
            <a:extLst>
              <a:ext uri="{FF2B5EF4-FFF2-40B4-BE49-F238E27FC236}">
                <a16:creationId xmlns:a16="http://schemas.microsoft.com/office/drawing/2014/main" id="{934A54FF-DA7D-A18E-3501-D1D678D5C5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09800" y="1507510"/>
            <a:ext cx="7772400" cy="49847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0789920" cy="1143000"/>
          </a:xfrm>
        </p:spPr>
        <p:txBody>
          <a:bodyPr/>
          <a:lstStyle/>
          <a:p>
            <a:r>
              <a:rPr sz="3600" b="1">
                <a:latin typeface="Calibri"/>
              </a:rPr>
              <a:t>Ergebnisse: Buzz ↔ Volatilität</a:t>
            </a:r>
          </a:p>
        </p:txBody>
      </p:sp>
      <p:pic>
        <p:nvPicPr>
          <p:cNvPr id="3" name="Picture 2" descr="scatter_schem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151160"/>
            <a:ext cx="10332720" cy="5424678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550894" y="6575838"/>
            <a:ext cx="10332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dirty="0">
                <a:solidFill>
                  <a:srgbClr val="5A5A5A"/>
                </a:solidFill>
              </a:rPr>
              <a:t>Hinweis: Schema-</a:t>
            </a:r>
            <a:r>
              <a:rPr sz="1400" dirty="0" err="1">
                <a:solidFill>
                  <a:srgbClr val="5A5A5A"/>
                </a:solidFill>
              </a:rPr>
              <a:t>Visualisierung</a:t>
            </a:r>
            <a:r>
              <a:rPr sz="1400" dirty="0">
                <a:solidFill>
                  <a:srgbClr val="5A5A5A"/>
                </a:solidFill>
              </a:rPr>
              <a:t>. </a:t>
            </a:r>
            <a:r>
              <a:rPr sz="1400" dirty="0" err="1">
                <a:solidFill>
                  <a:srgbClr val="5A5A5A"/>
                </a:solidFill>
              </a:rPr>
              <a:t>Im</a:t>
            </a:r>
            <a:r>
              <a:rPr sz="1400" dirty="0">
                <a:solidFill>
                  <a:srgbClr val="5A5A5A"/>
                </a:solidFill>
              </a:rPr>
              <a:t> Projekt </a:t>
            </a:r>
            <a:r>
              <a:rPr sz="1400" dirty="0" err="1">
                <a:solidFill>
                  <a:srgbClr val="5A5A5A"/>
                </a:solidFill>
              </a:rPr>
              <a:t>wird</a:t>
            </a:r>
            <a:r>
              <a:rPr sz="1400" dirty="0">
                <a:solidFill>
                  <a:srgbClr val="5A5A5A"/>
                </a:solidFill>
              </a:rPr>
              <a:t> die </a:t>
            </a:r>
            <a:r>
              <a:rPr sz="1400" dirty="0" err="1">
                <a:solidFill>
                  <a:srgbClr val="5A5A5A"/>
                </a:solidFill>
              </a:rPr>
              <a:t>Korrelation</a:t>
            </a:r>
            <a:r>
              <a:rPr sz="1400" dirty="0">
                <a:solidFill>
                  <a:srgbClr val="5A5A5A"/>
                </a:solidFill>
              </a:rPr>
              <a:t> </a:t>
            </a:r>
            <a:r>
              <a:rPr sz="1400" dirty="0" err="1">
                <a:solidFill>
                  <a:srgbClr val="5A5A5A"/>
                </a:solidFill>
              </a:rPr>
              <a:t>aus</a:t>
            </a:r>
            <a:r>
              <a:rPr sz="1400" dirty="0">
                <a:solidFill>
                  <a:srgbClr val="5A5A5A"/>
                </a:solidFill>
              </a:rPr>
              <a:t> Live-Daten </a:t>
            </a:r>
            <a:r>
              <a:rPr sz="1400" dirty="0" err="1">
                <a:solidFill>
                  <a:srgbClr val="5A5A5A"/>
                </a:solidFill>
              </a:rPr>
              <a:t>im</a:t>
            </a:r>
            <a:r>
              <a:rPr sz="1400" dirty="0">
                <a:solidFill>
                  <a:srgbClr val="5A5A5A"/>
                </a:solidFill>
              </a:rPr>
              <a:t> Dashboard </a:t>
            </a:r>
            <a:r>
              <a:rPr sz="1400" dirty="0" err="1">
                <a:solidFill>
                  <a:srgbClr val="5A5A5A"/>
                </a:solidFill>
              </a:rPr>
              <a:t>berechnet</a:t>
            </a:r>
            <a:r>
              <a:rPr sz="1400" dirty="0">
                <a:solidFill>
                  <a:srgbClr val="5A5A5A"/>
                </a:solidFill>
              </a:rPr>
              <a:t>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11053482" cy="1143000"/>
          </a:xfrm>
        </p:spPr>
        <p:txBody>
          <a:bodyPr/>
          <a:lstStyle/>
          <a:p>
            <a:r>
              <a:rPr sz="3600" b="1" dirty="0">
                <a:latin typeface="Calibri"/>
              </a:rPr>
              <a:t>Machine Learning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22198" y="1567006"/>
            <a:ext cx="5787162" cy="178510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dirty="0"/>
              <a:t>Modelle &amp; </a:t>
            </a:r>
            <a:r>
              <a:rPr lang="de-AT" sz="2000" b="1" dirty="0"/>
              <a:t>Features</a:t>
            </a:r>
            <a:endParaRPr sz="2000" b="1" dirty="0"/>
          </a:p>
          <a:p>
            <a:pPr lvl="1"/>
            <a:r>
              <a:rPr sz="1800" dirty="0"/>
              <a:t>3 </a:t>
            </a:r>
            <a:r>
              <a:rPr sz="1800" dirty="0" err="1"/>
              <a:t>Regressionsmodelle</a:t>
            </a:r>
            <a:r>
              <a:rPr sz="1800" dirty="0"/>
              <a:t>: </a:t>
            </a:r>
            <a:endParaRPr lang="de-AT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800" dirty="0"/>
              <a:t>Random Forest, </a:t>
            </a:r>
            <a:endParaRPr lang="de-AT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800" dirty="0"/>
              <a:t>Gradient Boosting, </a:t>
            </a:r>
            <a:endParaRPr lang="de-AT" sz="18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sz="1800" dirty="0"/>
              <a:t>Linear Regression</a:t>
            </a:r>
          </a:p>
          <a:p>
            <a:pPr lvl="1"/>
            <a:r>
              <a:rPr sz="1800" dirty="0"/>
              <a:t>Features: </a:t>
            </a:r>
            <a:r>
              <a:rPr sz="1800" dirty="0" err="1"/>
              <a:t>Fear&amp;Greed</a:t>
            </a:r>
            <a:r>
              <a:rPr sz="1800" dirty="0"/>
              <a:t>, Volume, Price, Social Sentiment</a:t>
            </a:r>
            <a:endParaRPr lang="de-AT" sz="1800" dirty="0"/>
          </a:p>
        </p:txBody>
      </p:sp>
      <p:pic>
        <p:nvPicPr>
          <p:cNvPr id="4" name="Picture 3" descr="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09360" y="1828800"/>
            <a:ext cx="548640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309360" y="621792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5A5A5A"/>
                </a:solidFill>
              </a:rPr>
              <a:t>Feature Importance (Preisänderung) – aus Projektanalyse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320040"/>
            <a:ext cx="9997440" cy="1143000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Systemarchitektur</a:t>
            </a:r>
            <a:r>
              <a:rPr sz="3600" b="1" dirty="0">
                <a:latin typeface="Calibri"/>
              </a:rPr>
              <a:t> (4-Layer)</a:t>
            </a:r>
          </a:p>
        </p:txBody>
      </p:sp>
      <p:pic>
        <p:nvPicPr>
          <p:cNvPr id="6" name="Grafik 5" descr="Ein Bild, das Text, Screenshot, Software, Multimedia-Software enthält.&#10;&#10;KI-generierte Inhalte können fehlerhaft sein.">
            <a:extLst>
              <a:ext uri="{FF2B5EF4-FFF2-40B4-BE49-F238E27FC236}">
                <a16:creationId xmlns:a16="http://schemas.microsoft.com/office/drawing/2014/main" id="{287BE533-8735-27FD-1EDF-9E96B51C05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6982" y="1463040"/>
            <a:ext cx="10487738" cy="461503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199" y="274638"/>
            <a:ext cx="10174941" cy="1143000"/>
          </a:xfrm>
        </p:spPr>
        <p:txBody>
          <a:bodyPr/>
          <a:lstStyle/>
          <a:p>
            <a:r>
              <a:rPr sz="3600" b="1" dirty="0" err="1">
                <a:latin typeface="Calibri"/>
              </a:rPr>
              <a:t>Technischer</a:t>
            </a:r>
            <a:r>
              <a:rPr sz="3600" b="1" dirty="0">
                <a:latin typeface="Calibri"/>
              </a:rPr>
              <a:t> </a:t>
            </a:r>
            <a:r>
              <a:rPr sz="3600" b="1" dirty="0" err="1">
                <a:latin typeface="Calibri"/>
              </a:rPr>
              <a:t>Ablauf</a:t>
            </a:r>
            <a:r>
              <a:rPr sz="3600" b="1" dirty="0">
                <a:latin typeface="Calibri"/>
              </a:rPr>
              <a:t> (</a:t>
            </a:r>
            <a:r>
              <a:rPr sz="3600" b="1" dirty="0" err="1">
                <a:latin typeface="Calibri"/>
              </a:rPr>
              <a:t>vereinfacht</a:t>
            </a:r>
            <a:r>
              <a:rPr sz="3600" b="1" dirty="0">
                <a:latin typeface="Calibri"/>
              </a:rPr>
              <a:t>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6720" y="1462722"/>
            <a:ext cx="5242561" cy="233910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1" dirty="0"/>
              <a:t>Pipeline</a:t>
            </a:r>
          </a:p>
          <a:p>
            <a:pPr lvl="1"/>
            <a:r>
              <a:rPr sz="1800" dirty="0"/>
              <a:t>1) Data Collection (</a:t>
            </a:r>
            <a:r>
              <a:rPr sz="1800" dirty="0" err="1"/>
              <a:t>CoinGecko</a:t>
            </a:r>
            <a:r>
              <a:rPr sz="1800" dirty="0"/>
              <a:t>)</a:t>
            </a:r>
          </a:p>
          <a:p>
            <a:pPr lvl="1"/>
            <a:r>
              <a:rPr sz="1800" dirty="0"/>
              <a:t>2) Sentiment Collection (</a:t>
            </a:r>
            <a:r>
              <a:rPr sz="1800" dirty="0" err="1"/>
              <a:t>Alternative.me</a:t>
            </a:r>
            <a:r>
              <a:rPr sz="1800" dirty="0"/>
              <a:t> + </a:t>
            </a:r>
            <a:r>
              <a:rPr sz="1800" dirty="0" err="1"/>
              <a:t>CryptoPanic</a:t>
            </a:r>
            <a:r>
              <a:rPr sz="1800" dirty="0"/>
              <a:t>)</a:t>
            </a:r>
          </a:p>
          <a:p>
            <a:pPr lvl="1"/>
            <a:r>
              <a:rPr sz="1800" dirty="0"/>
              <a:t>3) Optional: MongoDB Storage (NoSQL Layer)</a:t>
            </a:r>
          </a:p>
          <a:p>
            <a:pPr lvl="1"/>
            <a:r>
              <a:rPr sz="1800" dirty="0"/>
              <a:t>4) ML Analysis (scikit-learn)</a:t>
            </a:r>
          </a:p>
          <a:p>
            <a:pPr lvl="1"/>
            <a:r>
              <a:rPr sz="1800" dirty="0"/>
              <a:t>5) Optional: Spark MapReduce Analysis</a:t>
            </a:r>
          </a:p>
          <a:p>
            <a:pPr lvl="1"/>
            <a:r>
              <a:rPr sz="1800" dirty="0"/>
              <a:t>6) HTTP Server → Dashboard (localhost:8000)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83045" y="1498044"/>
            <a:ext cx="5043543" cy="11079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 dirty="0"/>
              <a:t>Run:</a:t>
            </a:r>
          </a:p>
          <a:p>
            <a:pPr lvl="1"/>
            <a:r>
              <a:rPr sz="1600" b="0" dirty="0">
                <a:solidFill>
                  <a:srgbClr val="1E1E1E"/>
                </a:solidFill>
                <a:latin typeface="Courier New"/>
              </a:rPr>
              <a:t>python </a:t>
            </a:r>
            <a:r>
              <a:rPr sz="1600" b="0" dirty="0" err="1">
                <a:solidFill>
                  <a:srgbClr val="1E1E1E"/>
                </a:solidFill>
                <a:latin typeface="Courier New"/>
              </a:rPr>
              <a:t>start_dashboard.py</a:t>
            </a:r>
            <a:br>
              <a:rPr dirty="0"/>
            </a:br>
            <a:r>
              <a:rPr sz="1600" b="0" dirty="0">
                <a:solidFill>
                  <a:srgbClr val="1E1E1E"/>
                </a:solidFill>
                <a:latin typeface="Courier New"/>
              </a:rPr>
              <a:t>python </a:t>
            </a:r>
            <a:r>
              <a:rPr sz="1600" b="0" dirty="0" err="1">
                <a:solidFill>
                  <a:srgbClr val="1E1E1E"/>
                </a:solidFill>
                <a:latin typeface="Courier New"/>
              </a:rPr>
              <a:t>start_dashboard.py</a:t>
            </a:r>
            <a:r>
              <a:rPr sz="1600" b="0" dirty="0">
                <a:solidFill>
                  <a:srgbClr val="1E1E1E"/>
                </a:solidFill>
                <a:latin typeface="Courier New"/>
              </a:rPr>
              <a:t> --no-</a:t>
            </a:r>
            <a:r>
              <a:rPr sz="1600" b="0" dirty="0" err="1">
                <a:solidFill>
                  <a:srgbClr val="1E1E1E"/>
                </a:solidFill>
                <a:latin typeface="Courier New"/>
              </a:rPr>
              <a:t>mongodb</a:t>
            </a:r>
            <a:r>
              <a:rPr sz="1600" b="0" dirty="0">
                <a:solidFill>
                  <a:srgbClr val="1E1E1E"/>
                </a:solidFill>
                <a:latin typeface="Courier New"/>
              </a:rPr>
              <a:t> --no-spark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80268" y="3052930"/>
            <a:ext cx="484632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 dirty="0"/>
              <a:t>Output:</a:t>
            </a:r>
          </a:p>
          <a:p>
            <a:pPr lvl="1"/>
            <a:r>
              <a:rPr sz="1600" b="0" dirty="0">
                <a:solidFill>
                  <a:srgbClr val="282828"/>
                </a:solidFill>
                <a:latin typeface="Calibri"/>
              </a:rPr>
              <a:t>Dashboard: http://localhost:8000</a:t>
            </a:r>
            <a:br>
              <a:rPr dirty="0"/>
            </a:br>
            <a:r>
              <a:rPr sz="1600" b="0" dirty="0">
                <a:solidFill>
                  <a:srgbClr val="282828"/>
                </a:solidFill>
                <a:latin typeface="Calibri"/>
              </a:rPr>
              <a:t>Seiten: /</a:t>
            </a:r>
            <a:r>
              <a:rPr sz="1600" b="0" dirty="0" err="1">
                <a:solidFill>
                  <a:srgbClr val="282828"/>
                </a:solidFill>
                <a:latin typeface="Calibri"/>
              </a:rPr>
              <a:t>index.html</a:t>
            </a:r>
            <a:r>
              <a:rPr sz="1600" b="0" dirty="0">
                <a:solidFill>
                  <a:srgbClr val="282828"/>
                </a:solidFill>
                <a:latin typeface="Calibri"/>
              </a:rPr>
              <a:t>, /</a:t>
            </a:r>
            <a:r>
              <a:rPr sz="1600" b="0" dirty="0" err="1">
                <a:solidFill>
                  <a:srgbClr val="282828"/>
                </a:solidFill>
                <a:latin typeface="Calibri"/>
              </a:rPr>
              <a:t>sentiment.html</a:t>
            </a:r>
            <a:r>
              <a:rPr sz="1600" b="0" dirty="0">
                <a:solidFill>
                  <a:srgbClr val="282828"/>
                </a:solidFill>
                <a:latin typeface="Calibri"/>
              </a:rPr>
              <a:t>,</a:t>
            </a:r>
            <a:br>
              <a:rPr dirty="0"/>
            </a:br>
            <a:r>
              <a:rPr sz="1600" b="0" dirty="0">
                <a:solidFill>
                  <a:srgbClr val="282828"/>
                </a:solidFill>
                <a:latin typeface="Calibri"/>
              </a:rPr>
              <a:t>/</a:t>
            </a:r>
            <a:r>
              <a:rPr sz="1600" b="0" dirty="0" err="1">
                <a:solidFill>
                  <a:srgbClr val="282828"/>
                </a:solidFill>
                <a:latin typeface="Calibri"/>
              </a:rPr>
              <a:t>correlation.html</a:t>
            </a:r>
            <a:r>
              <a:rPr sz="1600" b="0" dirty="0">
                <a:solidFill>
                  <a:srgbClr val="282828"/>
                </a:solidFill>
                <a:latin typeface="Calibri"/>
              </a:rPr>
              <a:t>, /</a:t>
            </a:r>
            <a:r>
              <a:rPr sz="1600" b="0" dirty="0" err="1">
                <a:solidFill>
                  <a:srgbClr val="282828"/>
                </a:solidFill>
                <a:latin typeface="Calibri"/>
              </a:rPr>
              <a:t>predictions.html</a:t>
            </a:r>
            <a:endParaRPr sz="1600" b="0" dirty="0">
              <a:solidFill>
                <a:srgbClr val="282828"/>
              </a:solidFill>
              <a:latin typeface="Calibri"/>
            </a:endParaRPr>
          </a:p>
        </p:txBody>
      </p:sp>
      <p:pic>
        <p:nvPicPr>
          <p:cNvPr id="6" name="Grafik 5">
            <a:extLst>
              <a:ext uri="{FF2B5EF4-FFF2-40B4-BE49-F238E27FC236}">
                <a16:creationId xmlns:a16="http://schemas.microsoft.com/office/drawing/2014/main" id="{94857E97-3F02-AB3B-37D4-E0DB3DD027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110" y="4980747"/>
            <a:ext cx="10599869" cy="12729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28426"/>
            <a:ext cx="8229600" cy="1143000"/>
          </a:xfrm>
        </p:spPr>
        <p:txBody>
          <a:bodyPr>
            <a:normAutofit fontScale="90000"/>
          </a:bodyPr>
          <a:lstStyle/>
          <a:p>
            <a:r>
              <a:rPr sz="3600" b="1" dirty="0">
                <a:latin typeface="Calibri"/>
              </a:rPr>
              <a:t>Teil 3: </a:t>
            </a:r>
            <a:r>
              <a:rPr sz="3600" b="1" dirty="0" err="1">
                <a:latin typeface="Calibri"/>
              </a:rPr>
              <a:t>Größtes</a:t>
            </a:r>
            <a:r>
              <a:rPr sz="3600" b="1" dirty="0">
                <a:latin typeface="Calibri"/>
              </a:rPr>
              <a:t> Problem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spcAft>
                <a:spcPts val="600"/>
              </a:spcAft>
            </a:pPr>
            <a:r>
              <a:rPr lang="de-AT" sz="2200" b="0" dirty="0" err="1">
                <a:latin typeface="Calibri"/>
              </a:rPr>
              <a:t>Kostenpflichtite</a:t>
            </a:r>
            <a:r>
              <a:rPr lang="de-AT" sz="2200" b="0" dirty="0">
                <a:latin typeface="Calibri"/>
              </a:rPr>
              <a:t> </a:t>
            </a:r>
            <a:r>
              <a:rPr lang="de-AT" sz="2200" b="0" dirty="0" err="1">
                <a:latin typeface="Calibri"/>
              </a:rPr>
              <a:t>API‘s</a:t>
            </a:r>
            <a:r>
              <a:rPr lang="de-AT" sz="2200" dirty="0">
                <a:latin typeface="Calibri"/>
              </a:rPr>
              <a:t>…</a:t>
            </a:r>
            <a:br>
              <a:rPr lang="de-AT" sz="2200" b="0" dirty="0">
                <a:latin typeface="Calibri"/>
              </a:rPr>
            </a:br>
            <a:endParaRPr lang="de-AT"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200" b="0" dirty="0">
                <a:latin typeface="Calibri"/>
              </a:rPr>
              <a:t>API-</a:t>
            </a:r>
            <a:r>
              <a:rPr sz="2200" b="0" dirty="0" err="1">
                <a:latin typeface="Calibri"/>
              </a:rPr>
              <a:t>Ratelimits</a:t>
            </a:r>
            <a:r>
              <a:rPr sz="2200" b="0" dirty="0">
                <a:latin typeface="Calibri"/>
              </a:rPr>
              <a:t> &amp; </a:t>
            </a:r>
            <a:r>
              <a:rPr sz="2200" b="0" dirty="0" err="1">
                <a:latin typeface="Calibri"/>
              </a:rPr>
              <a:t>Datenqualität</a:t>
            </a:r>
            <a:r>
              <a:rPr sz="2200" b="0" dirty="0">
                <a:latin typeface="Calibri"/>
              </a:rPr>
              <a:t> (</a:t>
            </a:r>
            <a:r>
              <a:rPr sz="2200" b="0" dirty="0" err="1">
                <a:latin typeface="Calibri"/>
              </a:rPr>
              <a:t>fehlende</a:t>
            </a:r>
            <a:r>
              <a:rPr sz="2200" b="0" dirty="0">
                <a:latin typeface="Calibri"/>
              </a:rPr>
              <a:t>/</a:t>
            </a:r>
            <a:r>
              <a:rPr sz="2200" b="0" dirty="0" err="1">
                <a:latin typeface="Calibri"/>
              </a:rPr>
              <a:t>inkonsistente</a:t>
            </a:r>
            <a:r>
              <a:rPr sz="2200" b="0" dirty="0">
                <a:latin typeface="Calibri"/>
              </a:rPr>
              <a:t> Felder)</a:t>
            </a:r>
            <a:br>
              <a:rPr lang="de-AT" sz="2200" b="0" dirty="0">
                <a:latin typeface="Calibri"/>
              </a:rPr>
            </a:br>
            <a:endParaRPr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200" b="0" dirty="0">
                <a:latin typeface="Calibri"/>
              </a:rPr>
              <a:t>Sentiment ≠ </a:t>
            </a:r>
            <a:r>
              <a:rPr sz="2200" b="0" dirty="0" err="1">
                <a:latin typeface="Calibri"/>
              </a:rPr>
              <a:t>Kausalität</a:t>
            </a:r>
            <a:r>
              <a:rPr sz="2200" b="0" dirty="0">
                <a:latin typeface="Calibri"/>
              </a:rPr>
              <a:t> → </a:t>
            </a:r>
            <a:r>
              <a:rPr sz="2200" b="0" dirty="0" err="1">
                <a:latin typeface="Calibri"/>
              </a:rPr>
              <a:t>vorsichtig</a:t>
            </a:r>
            <a:r>
              <a:rPr lang="de-AT" sz="2200" dirty="0"/>
              <a:t> Interpretieren</a:t>
            </a:r>
            <a:br>
              <a:rPr lang="de-AT" sz="2200" b="0" dirty="0">
                <a:latin typeface="Calibri"/>
              </a:rPr>
            </a:br>
            <a:endParaRPr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sz="2200" b="0" dirty="0">
                <a:latin typeface="Calibri"/>
              </a:rPr>
              <a:t>Realtime-Pipeline: </a:t>
            </a:r>
            <a:r>
              <a:rPr sz="2200" b="0" dirty="0" err="1">
                <a:latin typeface="Calibri"/>
              </a:rPr>
              <a:t>Robustheit</a:t>
            </a:r>
            <a:r>
              <a:rPr sz="2200" b="0" dirty="0">
                <a:latin typeface="Calibri"/>
              </a:rPr>
              <a:t> (Fallbacks) </a:t>
            </a:r>
            <a:r>
              <a:rPr sz="2200" b="0" dirty="0" err="1">
                <a:latin typeface="Calibri"/>
              </a:rPr>
              <a:t>wichtiger</a:t>
            </a:r>
            <a:r>
              <a:rPr sz="2200" b="0" dirty="0">
                <a:latin typeface="Calibri"/>
              </a:rPr>
              <a:t> </a:t>
            </a:r>
            <a:r>
              <a:rPr sz="2200" b="0" dirty="0" err="1">
                <a:latin typeface="Calibri"/>
              </a:rPr>
              <a:t>als</a:t>
            </a:r>
            <a:r>
              <a:rPr sz="2200" b="0" dirty="0">
                <a:latin typeface="Calibri"/>
              </a:rPr>
              <a:t> „</a:t>
            </a:r>
            <a:r>
              <a:rPr sz="2200" b="0" dirty="0" err="1">
                <a:latin typeface="Calibri"/>
              </a:rPr>
              <a:t>perfekte</a:t>
            </a:r>
            <a:r>
              <a:rPr sz="2200" b="0" dirty="0">
                <a:latin typeface="Calibri"/>
              </a:rPr>
              <a:t>“ Accuracy</a:t>
            </a:r>
            <a:br>
              <a:rPr lang="de-AT" sz="2200" b="0" dirty="0">
                <a:latin typeface="Calibri"/>
              </a:rPr>
            </a:br>
            <a:endParaRPr lang="de-AT" sz="2200" b="0" dirty="0">
              <a:latin typeface="Calibri"/>
            </a:endParaRPr>
          </a:p>
          <a:p>
            <a:pPr>
              <a:spcAft>
                <a:spcPts val="600"/>
              </a:spcAft>
            </a:pPr>
            <a:r>
              <a:rPr lang="de-AT" sz="2200" b="0" dirty="0" err="1">
                <a:latin typeface="Calibri"/>
              </a:rPr>
              <a:t>Zeitmanagment</a:t>
            </a:r>
            <a:endParaRPr sz="2200" b="0" dirty="0">
              <a:latin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15B87593-2303-90C5-8759-5161574A4B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274638"/>
            <a:ext cx="11079271" cy="1143000"/>
          </a:xfrm>
        </p:spPr>
        <p:txBody>
          <a:bodyPr/>
          <a:lstStyle/>
          <a:p>
            <a:r>
              <a:rPr lang="de-DE" dirty="0"/>
              <a:t>Danke für eure Aufmerksamkeit!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A5B18D7A-F137-1FD8-2A29-2EA0D2E9D0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11079270" cy="4525963"/>
          </a:xfrm>
        </p:spPr>
        <p:txBody>
          <a:bodyPr/>
          <a:lstStyle/>
          <a:p>
            <a:r>
              <a:rPr lang="de-DE" dirty="0"/>
              <a:t>Fragen/ Wünsche / Anregungen?</a:t>
            </a:r>
          </a:p>
          <a:p>
            <a:endParaRPr lang="de-DE" dirty="0"/>
          </a:p>
          <a:p>
            <a:endParaRPr lang="de-DE" dirty="0"/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D82FF4E-8C41-B324-3AB7-3603D788D8CE}"/>
              </a:ext>
            </a:extLst>
          </p:cNvPr>
          <p:cNvSpPr txBox="1">
            <a:spLocks/>
          </p:cNvSpPr>
          <p:nvPr/>
        </p:nvSpPr>
        <p:spPr>
          <a:xfrm>
            <a:off x="2895600" y="4124195"/>
            <a:ext cx="6400800" cy="1752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de-AT" sz="1800" dirty="0">
                <a:solidFill>
                  <a:srgbClr val="464646"/>
                </a:solidFill>
                <a:latin typeface="Calibri"/>
              </a:rPr>
              <a:t>Big Data Analytics – Abschlussprojekt</a:t>
            </a:r>
          </a:p>
          <a:p>
            <a:pPr marL="0" indent="0" algn="ctr">
              <a:buNone/>
            </a:pPr>
            <a:r>
              <a:rPr lang="de-AT" sz="1800" dirty="0">
                <a:solidFill>
                  <a:srgbClr val="464646"/>
                </a:solidFill>
                <a:latin typeface="Calibri"/>
              </a:rPr>
              <a:t>Emre Akyol · </a:t>
            </a:r>
            <a:r>
              <a:rPr lang="de-AT" sz="1800" dirty="0" err="1">
                <a:solidFill>
                  <a:srgbClr val="464646"/>
                </a:solidFill>
                <a:latin typeface="Calibri"/>
              </a:rPr>
              <a:t>Harmanpreet</a:t>
            </a:r>
            <a:r>
              <a:rPr lang="de-AT" sz="1800" dirty="0">
                <a:solidFill>
                  <a:srgbClr val="464646"/>
                </a:solidFill>
                <a:latin typeface="Calibri"/>
              </a:rPr>
              <a:t> Chauhan · Mohamed Nasr</a:t>
            </a:r>
          </a:p>
        </p:txBody>
      </p:sp>
    </p:spTree>
    <p:extLst>
      <p:ext uri="{BB962C8B-B14F-4D97-AF65-F5344CB8AC3E}">
        <p14:creationId xmlns:p14="http://schemas.microsoft.com/office/powerpoint/2010/main" val="1452560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478</Words>
  <Application>Microsoft Macintosh PowerPoint</Application>
  <PresentationFormat>Breitbild</PresentationFormat>
  <Paragraphs>76</Paragraphs>
  <Slides>11</Slides>
  <Notes>1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11</vt:i4>
      </vt:variant>
    </vt:vector>
  </HeadingPairs>
  <TitlesOfParts>
    <vt:vector size="16" baseType="lpstr">
      <vt:lpstr>Aptos</vt:lpstr>
      <vt:lpstr>Arial</vt:lpstr>
      <vt:lpstr>Calibri</vt:lpstr>
      <vt:lpstr>Courier New</vt:lpstr>
      <vt:lpstr>Office Theme</vt:lpstr>
      <vt:lpstr>Crypto Sentiment Analytics</vt:lpstr>
      <vt:lpstr>Ziel &amp; Fragestellung</vt:lpstr>
      <vt:lpstr>Begriffe – kurz erklärt</vt:lpstr>
      <vt:lpstr>Datenquellen</vt:lpstr>
      <vt:lpstr>Ergebnisse: Dashboard-Überblick</vt:lpstr>
      <vt:lpstr>Ergebnisse: Buzz ↔ Volatilität</vt:lpstr>
      <vt:lpstr>Machine Learning</vt:lpstr>
      <vt:lpstr>Systemarchitektur (4-Layer)</vt:lpstr>
      <vt:lpstr>Technischer Ablauf (vereinfacht)</vt:lpstr>
      <vt:lpstr>Teil 3: Größtes Problem &amp; Lessons Learned</vt:lpstr>
      <vt:lpstr>Danke für eure Aufmerksamkeit!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Mohamed Nasr</cp:lastModifiedBy>
  <cp:revision>2</cp:revision>
  <dcterms:created xsi:type="dcterms:W3CDTF">2013-01-27T09:14:16Z</dcterms:created>
  <dcterms:modified xsi:type="dcterms:W3CDTF">2026-01-09T12:43:54Z</dcterms:modified>
  <cp:category/>
</cp:coreProperties>
</file>